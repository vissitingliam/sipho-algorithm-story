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68f14da-0f6f-4150-879d-e40656c19ff6}">
          <p14:sldIdLst>
            <p14:sldId id="256"/>
          </p14:sldIdLst>
        </p14:section>
        <p14:section name="Problem statement" id="{24cdee6f-8c33-f8a0-dd51-e1c93662afb7}">
          <p14:sldIdLst>
            <p14:sldId id="257"/>
          </p14:sldIdLst>
        </p14:section>
        <p14:section name="Design process" id="{16f78654-aa52-b0b3-1fb6-98f6c7eab084}">
          <p14:sldIdLst>
            <p14:sldId id="258"/>
          </p14:sldIdLst>
        </p14:section>
        <p14:section name="Live demonstration" id="{95454124-398a-adac-1a34-2c2486dba413}">
          <p14:sldIdLst>
            <p14:sldId id="259"/>
          </p14:sldIdLst>
        </p14:section>
        <p14:section name="Impact" id="{e2a70f58-cdc5-03cd-3738-06f9dfc5db56}">
          <p14:sldIdLst>
            <p14:sldId id="260"/>
            <p14:sldId id="261"/>
          </p14:sldIdLst>
        </p14:section>
        <p14:section name="Questions" id="{aa7b694e-de77-f1db-300f-3f07608bbc2d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group and topic. Hand to the first speaker.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0:00–1:30. Lead with two or three gaps, not all six. End on: teachers need a ready model they can run with limited ICT skills.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1:30–3:30. Say why we integrated coding, show the early Lesson 2 draft versus the final, and name the idea we dropped.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3:30–9:30 (about 6 min). Camilla about 2, CJ about 1, Liam about 3. Screenshots and a screen recording ready as backup.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9:30–10:30. Walk the table quickly. Management is a partial answer: a principal can adopt it without a coordinator.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10:30–11:30. Cost, infrastructure, language. Close on the honest next step: not yet piloted.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11:30–15:00. Every member answers. Prepare: why games, why Setswana, what is not yet tested, how a school with no internet uses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Group CLT  ·  North-West University  ·  DIGD 521EC  ·  CC BY-SA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58521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vissitingliam.github.io/sipho-algorithm-story/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Introduction to Algorithms &amp; Flowcharts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8  •  Coding  •  Sipho’s Morning: An Algorithm Story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CLT  ·  North-West University  ·  DIGD 521EC</a:t>
            </a:r>
            <a:endParaRPr lang="en-US" sz="1400" dirty="0"/>
          </a:p>
        </p:txBody>
      </p:sp>
      <p:sp>
        <p:nvSpPr>
          <p:cNvPr id="5" name="Sun"/>
          <p:cNvSpPr/>
          <p:nvPr/>
        </p:nvSpPr>
        <p:spPr>
          <a:xfrm>
            <a:off x="6675120" y="2834640"/>
            <a:ext cx="1554480" cy="1554480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</p:sp>
      <p:sp>
        <p:nvSpPr>
          <p:cNvPr id="6" name="Hill"/>
          <p:cNvSpPr/>
          <p:nvPr/>
        </p:nvSpPr>
        <p:spPr>
          <a:xfrm>
            <a:off x="-2286000" y="3977640"/>
            <a:ext cx="13716000" cy="2926080"/>
          </a:xfrm>
          <a:prstGeom prst="ellipse">
            <a:avLst/>
          </a:prstGeom>
          <a:solidFill>
            <a:schemeClr val="tx1"/>
          </a:solidFill>
          <a:ln w="3175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BY-SA 4.0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Gap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Chisango (2021) and Bati (2021)</a:t>
            </a:r>
            <a:endParaRPr lang="en-US" sz="1600" dirty="0"/>
          </a:p>
        </p:txBody>
      </p:sp>
      <p:sp>
        <p:nvSpPr>
          <p:cNvPr id="4" name="Gap card 1 shadow"/>
          <p:cNvSpPr/>
          <p:nvPr/>
        </p:nvSpPr>
        <p:spPr>
          <a:xfrm>
            <a:off x="521208" y="1325880"/>
            <a:ext cx="8229600" cy="521208"/>
          </a:xfrm>
          <a:prstGeom prst="roundRect">
            <a:avLst>
              <a:gd name="adj" fmla="val 21053"/>
            </a:avLst>
          </a:prstGeom>
          <a:solidFill>
            <a:schemeClr val="accent4"/>
          </a:solidFill>
          <a:ln w="3175">
            <a:solidFill>
              <a:schemeClr val="accent4"/>
            </a:solidFill>
            <a:prstDash val="solid"/>
          </a:ln>
        </p:spPr>
      </p:sp>
      <p:sp>
        <p:nvSpPr>
          <p:cNvPr id="5" name="Gap card 1"/>
          <p:cNvSpPr/>
          <p:nvPr/>
        </p:nvSpPr>
        <p:spPr>
          <a:xfrm>
            <a:off x="457200" y="1261872"/>
            <a:ext cx="8229600" cy="521208"/>
          </a:xfrm>
          <a:prstGeom prst="roundRect">
            <a:avLst>
              <a:gd name="adj" fmla="val 21053"/>
            </a:avLst>
          </a:prstGeom>
          <a:solidFill>
            <a:schemeClr val="bg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" name="Gap icon 1"/>
          <p:cNvSpPr/>
          <p:nvPr/>
        </p:nvSpPr>
        <p:spPr>
          <a:xfrm>
            <a:off x="594360" y="1394460"/>
            <a:ext cx="347472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261872"/>
            <a:ext cx="1280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1261872"/>
            <a:ext cx="6217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or too few devices, limited internet, theft and vandalism.</a:t>
            </a:r>
            <a:endParaRPr lang="en-US" sz="1400" dirty="0"/>
          </a:p>
        </p:txBody>
      </p:sp>
      <p:sp>
        <p:nvSpPr>
          <p:cNvPr id="9" name="Gap card 2 shadow"/>
          <p:cNvSpPr/>
          <p:nvPr/>
        </p:nvSpPr>
        <p:spPr>
          <a:xfrm>
            <a:off x="521208" y="1901952"/>
            <a:ext cx="8229600" cy="521208"/>
          </a:xfrm>
          <a:prstGeom prst="roundRect">
            <a:avLst>
              <a:gd name="adj" fmla="val 21053"/>
            </a:avLst>
          </a:prstGeom>
          <a:solidFill>
            <a:schemeClr val="accent4"/>
          </a:solidFill>
          <a:ln w="3175">
            <a:solidFill>
              <a:schemeClr val="accent4"/>
            </a:solidFill>
            <a:prstDash val="solid"/>
          </a:ln>
        </p:spPr>
      </p:sp>
      <p:sp>
        <p:nvSpPr>
          <p:cNvPr id="10" name="Gap card 2"/>
          <p:cNvSpPr/>
          <p:nvPr/>
        </p:nvSpPr>
        <p:spPr>
          <a:xfrm>
            <a:off x="457200" y="1837944"/>
            <a:ext cx="8229600" cy="521208"/>
          </a:xfrm>
          <a:prstGeom prst="roundRect">
            <a:avLst>
              <a:gd name="adj" fmla="val 21053"/>
            </a:avLst>
          </a:prstGeom>
          <a:solidFill>
            <a:schemeClr val="bg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1" name="Gap icon 2"/>
          <p:cNvSpPr/>
          <p:nvPr/>
        </p:nvSpPr>
        <p:spPr>
          <a:xfrm>
            <a:off x="594360" y="1970532"/>
            <a:ext cx="347472" cy="256032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1837944"/>
            <a:ext cx="1280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1837944"/>
            <a:ext cx="6217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teachers don’t use ICT in other subjects; no pedagogical models for it.</a:t>
            </a:r>
            <a:endParaRPr lang="en-US" sz="1400" dirty="0"/>
          </a:p>
        </p:txBody>
      </p:sp>
      <p:sp>
        <p:nvSpPr>
          <p:cNvPr id="14" name="Gap card 3 shadow"/>
          <p:cNvSpPr/>
          <p:nvPr/>
        </p:nvSpPr>
        <p:spPr>
          <a:xfrm>
            <a:off x="521208" y="2478024"/>
            <a:ext cx="8229600" cy="521208"/>
          </a:xfrm>
          <a:prstGeom prst="roundRect">
            <a:avLst>
              <a:gd name="adj" fmla="val 21053"/>
            </a:avLst>
          </a:prstGeom>
          <a:solidFill>
            <a:schemeClr val="accent4"/>
          </a:solidFill>
          <a:ln w="3175">
            <a:solidFill>
              <a:schemeClr val="accent4"/>
            </a:solidFill>
            <a:prstDash val="solid"/>
          </a:ln>
        </p:spPr>
      </p:sp>
      <p:sp>
        <p:nvSpPr>
          <p:cNvPr id="15" name="Gap card 3"/>
          <p:cNvSpPr/>
          <p:nvPr/>
        </p:nvSpPr>
        <p:spPr>
          <a:xfrm>
            <a:off x="457200" y="2414016"/>
            <a:ext cx="8229600" cy="521208"/>
          </a:xfrm>
          <a:prstGeom prst="roundRect">
            <a:avLst>
              <a:gd name="adj" fmla="val 21053"/>
            </a:avLst>
          </a:prstGeom>
          <a:solidFill>
            <a:schemeClr val="bg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6" name="Gap icon 3"/>
          <p:cNvSpPr/>
          <p:nvPr/>
        </p:nvSpPr>
        <p:spPr>
          <a:xfrm>
            <a:off x="594360" y="2546604"/>
            <a:ext cx="347472" cy="256032"/>
          </a:xfrm>
          <a:prstGeom prst="diamond">
            <a:avLst/>
          </a:prstGeom>
          <a:solidFill>
            <a:schemeClr val="accent3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2414016"/>
            <a:ext cx="1280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2414016"/>
            <a:ext cx="6217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half of teachers had no ICT training in two years; teachers relied on learners.</a:t>
            </a:r>
            <a:endParaRPr lang="en-US" sz="1400" dirty="0"/>
          </a:p>
        </p:txBody>
      </p:sp>
      <p:sp>
        <p:nvSpPr>
          <p:cNvPr id="19" name="Gap card 4 shadow"/>
          <p:cNvSpPr/>
          <p:nvPr/>
        </p:nvSpPr>
        <p:spPr>
          <a:xfrm>
            <a:off x="521208" y="3054096"/>
            <a:ext cx="8229600" cy="521208"/>
          </a:xfrm>
          <a:prstGeom prst="roundRect">
            <a:avLst>
              <a:gd name="adj" fmla="val 21053"/>
            </a:avLst>
          </a:prstGeom>
          <a:solidFill>
            <a:schemeClr val="accent4"/>
          </a:solidFill>
          <a:ln w="3175">
            <a:solidFill>
              <a:schemeClr val="accent4"/>
            </a:solidFill>
            <a:prstDash val="solid"/>
          </a:ln>
        </p:spPr>
      </p:sp>
      <p:sp>
        <p:nvSpPr>
          <p:cNvPr id="20" name="Gap card 4"/>
          <p:cNvSpPr/>
          <p:nvPr/>
        </p:nvSpPr>
        <p:spPr>
          <a:xfrm>
            <a:off x="457200" y="2990088"/>
            <a:ext cx="8229600" cy="521208"/>
          </a:xfrm>
          <a:prstGeom prst="roundRect">
            <a:avLst>
              <a:gd name="adj" fmla="val 21053"/>
            </a:avLst>
          </a:prstGeom>
          <a:solidFill>
            <a:schemeClr val="bg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1" name="Gap icon 4"/>
          <p:cNvSpPr/>
          <p:nvPr/>
        </p:nvSpPr>
        <p:spPr>
          <a:xfrm>
            <a:off x="594360" y="3122676"/>
            <a:ext cx="347472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97280" y="2990088"/>
            <a:ext cx="1280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377440" y="2990088"/>
            <a:ext cx="6217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ICT support is minimal, even where coordinators exist (60% of schools).</a:t>
            </a:r>
            <a:endParaRPr lang="en-US" sz="1400" dirty="0"/>
          </a:p>
        </p:txBody>
      </p:sp>
      <p:sp>
        <p:nvSpPr>
          <p:cNvPr id="24" name="Gap card 5 shadow"/>
          <p:cNvSpPr/>
          <p:nvPr/>
        </p:nvSpPr>
        <p:spPr>
          <a:xfrm>
            <a:off x="521208" y="3630168"/>
            <a:ext cx="8229600" cy="521208"/>
          </a:xfrm>
          <a:prstGeom prst="roundRect">
            <a:avLst>
              <a:gd name="adj" fmla="val 21053"/>
            </a:avLst>
          </a:prstGeom>
          <a:solidFill>
            <a:schemeClr val="accent4"/>
          </a:solidFill>
          <a:ln w="3175">
            <a:solidFill>
              <a:schemeClr val="accent4"/>
            </a:solidFill>
            <a:prstDash val="solid"/>
          </a:ln>
        </p:spPr>
      </p:sp>
      <p:sp>
        <p:nvSpPr>
          <p:cNvPr id="25" name="Gap card 5"/>
          <p:cNvSpPr/>
          <p:nvPr/>
        </p:nvSpPr>
        <p:spPr>
          <a:xfrm>
            <a:off x="457200" y="3566160"/>
            <a:ext cx="8229600" cy="521208"/>
          </a:xfrm>
          <a:prstGeom prst="roundRect">
            <a:avLst>
              <a:gd name="adj" fmla="val 21053"/>
            </a:avLst>
          </a:prstGeom>
          <a:solidFill>
            <a:schemeClr val="bg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6" name="Gap icon 5"/>
          <p:cNvSpPr/>
          <p:nvPr/>
        </p:nvSpPr>
        <p:spPr>
          <a:xfrm>
            <a:off x="594360" y="3698748"/>
            <a:ext cx="347472" cy="256032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97280" y="3566160"/>
            <a:ext cx="1280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2377440" y="3566160"/>
            <a:ext cx="6217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resources arrive late; assistive technology is almost nonexistent.</a:t>
            </a:r>
            <a:endParaRPr lang="en-US" sz="1400" dirty="0"/>
          </a:p>
        </p:txBody>
      </p:sp>
      <p:sp>
        <p:nvSpPr>
          <p:cNvPr id="29" name="Gap card 6 shadow"/>
          <p:cNvSpPr/>
          <p:nvPr/>
        </p:nvSpPr>
        <p:spPr>
          <a:xfrm>
            <a:off x="521208" y="4206240"/>
            <a:ext cx="8229600" cy="521208"/>
          </a:xfrm>
          <a:prstGeom prst="roundRect">
            <a:avLst>
              <a:gd name="adj" fmla="val 21053"/>
            </a:avLst>
          </a:prstGeom>
          <a:solidFill>
            <a:schemeClr val="accent4"/>
          </a:solidFill>
          <a:ln w="3175">
            <a:solidFill>
              <a:schemeClr val="accent4"/>
            </a:solidFill>
            <a:prstDash val="solid"/>
          </a:ln>
        </p:spPr>
      </p:sp>
      <p:sp>
        <p:nvSpPr>
          <p:cNvPr id="30" name="Gap card 6"/>
          <p:cNvSpPr/>
          <p:nvPr/>
        </p:nvSpPr>
        <p:spPr>
          <a:xfrm>
            <a:off x="457200" y="4142232"/>
            <a:ext cx="8229600" cy="521208"/>
          </a:xfrm>
          <a:prstGeom prst="roundRect">
            <a:avLst>
              <a:gd name="adj" fmla="val 21053"/>
            </a:avLst>
          </a:prstGeom>
          <a:solidFill>
            <a:schemeClr val="bg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1" name="Gap icon 6"/>
          <p:cNvSpPr/>
          <p:nvPr/>
        </p:nvSpPr>
        <p:spPr>
          <a:xfrm>
            <a:off x="594360" y="4274820"/>
            <a:ext cx="347472" cy="256032"/>
          </a:xfrm>
          <a:prstGeom prst="diamond">
            <a:avLst/>
          </a:prstGeom>
          <a:solidFill>
            <a:schemeClr val="accent3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97280" y="4142232"/>
            <a:ext cx="1280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2377440" y="4142232"/>
            <a:ext cx="6217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experienced teachers avoid technology (“technology want nots”).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Design Process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decided on content, format and assessment</a:t>
            </a:r>
            <a:endParaRPr lang="en-US" sz="1600" dirty="0"/>
          </a:p>
        </p:txBody>
      </p:sp>
      <p:sp>
        <p:nvSpPr>
          <p:cNvPr id="4" name="Decision card 1 shadow"/>
          <p:cNvSpPr/>
          <p:nvPr/>
        </p:nvSpPr>
        <p:spPr>
          <a:xfrm>
            <a:off x="521208" y="1344168"/>
            <a:ext cx="4572000" cy="1051560"/>
          </a:xfrm>
          <a:prstGeom prst="roundRect">
            <a:avLst>
              <a:gd name="adj" fmla="val 10435"/>
            </a:avLst>
          </a:prstGeom>
          <a:solidFill>
            <a:schemeClr val="accent4"/>
          </a:solidFill>
          <a:ln w="3175">
            <a:solidFill>
              <a:schemeClr val="accent4"/>
            </a:solidFill>
            <a:prstDash val="solid"/>
          </a:ln>
        </p:spPr>
      </p:sp>
      <p:sp>
        <p:nvSpPr>
          <p:cNvPr id="5" name="Decision card 1"/>
          <p:cNvSpPr/>
          <p:nvPr/>
        </p:nvSpPr>
        <p:spPr>
          <a:xfrm>
            <a:off x="457200" y="1280160"/>
            <a:ext cx="457200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" name="Decision icon 1"/>
          <p:cNvSpPr/>
          <p:nvPr/>
        </p:nvSpPr>
        <p:spPr>
          <a:xfrm>
            <a:off x="640080" y="1435608"/>
            <a:ext cx="384048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66420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Flowcharts and algorithms alone were too thin, so we paired them with coding: plan → build → revise.</a:t>
            </a:r>
            <a:endParaRPr lang="en-US" sz="1400" dirty="0"/>
          </a:p>
        </p:txBody>
      </p:sp>
      <p:sp>
        <p:nvSpPr>
          <p:cNvPr id="9" name="Decision card 2 shadow"/>
          <p:cNvSpPr/>
          <p:nvPr/>
        </p:nvSpPr>
        <p:spPr>
          <a:xfrm>
            <a:off x="521208" y="2487168"/>
            <a:ext cx="4572000" cy="1051560"/>
          </a:xfrm>
          <a:prstGeom prst="roundRect">
            <a:avLst>
              <a:gd name="adj" fmla="val 10435"/>
            </a:avLst>
          </a:prstGeom>
          <a:solidFill>
            <a:schemeClr val="accent4"/>
          </a:solidFill>
          <a:ln w="3175">
            <a:solidFill>
              <a:schemeClr val="accent4"/>
            </a:solidFill>
            <a:prstDash val="solid"/>
          </a:ln>
        </p:spPr>
      </p:sp>
      <p:sp>
        <p:nvSpPr>
          <p:cNvPr id="10" name="Decision card 2"/>
          <p:cNvSpPr/>
          <p:nvPr/>
        </p:nvSpPr>
        <p:spPr>
          <a:xfrm>
            <a:off x="457200" y="2423160"/>
            <a:ext cx="457200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1" name="Decision icon 2"/>
          <p:cNvSpPr/>
          <p:nvPr/>
        </p:nvSpPr>
        <p:spPr>
          <a:xfrm>
            <a:off x="640080" y="2578608"/>
            <a:ext cx="384048" cy="274320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8872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80720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45-minute CAPS lesson plans, a game, a learner booklet and a teacher guide.</a:t>
            </a:r>
            <a:endParaRPr lang="en-US" sz="1400" dirty="0"/>
          </a:p>
        </p:txBody>
      </p:sp>
      <p:sp>
        <p:nvSpPr>
          <p:cNvPr id="14" name="Decision card 3 shadow"/>
          <p:cNvSpPr/>
          <p:nvPr/>
        </p:nvSpPr>
        <p:spPr>
          <a:xfrm>
            <a:off x="521208" y="3630168"/>
            <a:ext cx="4572000" cy="1051560"/>
          </a:xfrm>
          <a:prstGeom prst="roundRect">
            <a:avLst>
              <a:gd name="adj" fmla="val 10435"/>
            </a:avLst>
          </a:prstGeom>
          <a:solidFill>
            <a:schemeClr val="accent4"/>
          </a:solidFill>
          <a:ln w="3175">
            <a:solidFill>
              <a:schemeClr val="accent4"/>
            </a:solidFill>
            <a:prstDash val="solid"/>
          </a:ln>
        </p:spPr>
      </p:sp>
      <p:sp>
        <p:nvSpPr>
          <p:cNvPr id="15" name="Decision card 3"/>
          <p:cNvSpPr/>
          <p:nvPr/>
        </p:nvSpPr>
        <p:spPr>
          <a:xfrm>
            <a:off x="457200" y="3566160"/>
            <a:ext cx="457200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6" name="Decision icon 3"/>
          <p:cNvSpPr/>
          <p:nvPr/>
        </p:nvSpPr>
        <p:spPr>
          <a:xfrm>
            <a:off x="640080" y="3721608"/>
            <a:ext cx="384048" cy="274320"/>
          </a:xfrm>
          <a:prstGeom prst="diamond">
            <a:avLst/>
          </a:prstGeom>
          <a:solidFill>
            <a:schemeClr val="accent3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8872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95020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tickets in Lessons 1–4; a Lesson 5 summative with rubric and memo.</a:t>
            </a:r>
            <a:endParaRPr lang="en-US" sz="1400" dirty="0"/>
          </a:p>
        </p:txBody>
      </p:sp>
      <p:sp>
        <p:nvSpPr>
          <p:cNvPr id="19" name="Drafts card shadow"/>
          <p:cNvSpPr/>
          <p:nvPr/>
        </p:nvSpPr>
        <p:spPr>
          <a:xfrm>
            <a:off x="5413248" y="1344168"/>
            <a:ext cx="3337560" cy="3337560"/>
          </a:xfrm>
          <a:prstGeom prst="roundRect">
            <a:avLst>
              <a:gd name="adj" fmla="val 3288"/>
            </a:avLst>
          </a:prstGeom>
          <a:solidFill>
            <a:schemeClr val="accent4"/>
          </a:solidFill>
          <a:ln w="3175">
            <a:solidFill>
              <a:schemeClr val="accent4"/>
            </a:solidFill>
            <a:prstDash val="solid"/>
          </a:ln>
        </p:spPr>
      </p:sp>
      <p:sp>
        <p:nvSpPr>
          <p:cNvPr id="20" name="Drafts card"/>
          <p:cNvSpPr/>
          <p:nvPr/>
        </p:nvSpPr>
        <p:spPr>
          <a:xfrm>
            <a:off x="5349240" y="1280160"/>
            <a:ext cx="3337560" cy="3337560"/>
          </a:xfrm>
          <a:prstGeom prst="roundRect">
            <a:avLst>
              <a:gd name="adj" fmla="val 3288"/>
            </a:avLst>
          </a:prstGeom>
          <a:solidFill>
            <a:schemeClr val="accent3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532120" y="1371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drafts and rejected ideas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1920240"/>
            <a:ext cx="30175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taught algorithms and flowcharts on paper and draw.io only. We replaced it with the Sipho’s Morning game.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website of the notes booklet. We chose a game.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lessons first, revised once the digital part existed.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Live Demonstration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digital component, one learner activity, one teacher guide section</a:t>
            </a:r>
            <a:endParaRPr lang="en-US" sz="1600" dirty="0"/>
          </a:p>
        </p:txBody>
      </p:sp>
      <p:sp>
        <p:nvSpPr>
          <p:cNvPr id="4" name="Demo card 1 shadow"/>
          <p:cNvSpPr/>
          <p:nvPr/>
        </p:nvSpPr>
        <p:spPr>
          <a:xfrm>
            <a:off x="521208" y="1389888"/>
            <a:ext cx="2468880" cy="2331720"/>
          </a:xfrm>
          <a:prstGeom prst="roundRect">
            <a:avLst>
              <a:gd name="adj" fmla="val 4706"/>
            </a:avLst>
          </a:prstGeom>
          <a:solidFill>
            <a:schemeClr val="accent4"/>
          </a:solidFill>
          <a:ln w="3175">
            <a:solidFill>
              <a:schemeClr val="accent4"/>
            </a:solidFill>
            <a:prstDash val="solid"/>
          </a:ln>
        </p:spPr>
      </p:sp>
      <p:sp>
        <p:nvSpPr>
          <p:cNvPr id="5" name="Demo card 1"/>
          <p:cNvSpPr/>
          <p:nvPr/>
        </p:nvSpPr>
        <p:spPr>
          <a:xfrm>
            <a:off x="457200" y="1325880"/>
            <a:ext cx="246888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" name="Demo number 1"/>
          <p:cNvSpPr/>
          <p:nvPr/>
        </p:nvSpPr>
        <p:spPr>
          <a:xfrm>
            <a:off x="640080" y="1481328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4447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Camilla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7373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 min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14884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lesson plan, then Lesson 2 and its teacher guide section.</a:t>
            </a:r>
            <a:endParaRPr lang="en-US" sz="1600" dirty="0"/>
          </a:p>
        </p:txBody>
      </p:sp>
      <p:sp>
        <p:nvSpPr>
          <p:cNvPr id="11" name="Demo arrow 1"/>
          <p:cNvSpPr/>
          <p:nvPr/>
        </p:nvSpPr>
        <p:spPr>
          <a:xfrm>
            <a:off x="2962656" y="2624328"/>
            <a:ext cx="246888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Demo card 2 shadow"/>
          <p:cNvSpPr/>
          <p:nvPr/>
        </p:nvSpPr>
        <p:spPr>
          <a:xfrm>
            <a:off x="3310128" y="1389888"/>
            <a:ext cx="2468880" cy="2331720"/>
          </a:xfrm>
          <a:prstGeom prst="roundRect">
            <a:avLst>
              <a:gd name="adj" fmla="val 4706"/>
            </a:avLst>
          </a:prstGeom>
          <a:solidFill>
            <a:schemeClr val="accent4"/>
          </a:solidFill>
          <a:ln w="3175">
            <a:solidFill>
              <a:schemeClr val="accent4"/>
            </a:solidFill>
            <a:prstDash val="solid"/>
          </a:ln>
        </p:spPr>
      </p:sp>
      <p:sp>
        <p:nvSpPr>
          <p:cNvPr id="13" name="Demo card 2"/>
          <p:cNvSpPr/>
          <p:nvPr/>
        </p:nvSpPr>
        <p:spPr>
          <a:xfrm>
            <a:off x="3246120" y="1325880"/>
            <a:ext cx="246888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4" name="Demo number 2"/>
          <p:cNvSpPr/>
          <p:nvPr/>
        </p:nvSpPr>
        <p:spPr>
          <a:xfrm>
            <a:off x="3429000" y="1481328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2900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14447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17373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 min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214884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Briefly explains the algorithm story activity (the learner activity).</a:t>
            </a:r>
            <a:endParaRPr lang="en-US" sz="1600" dirty="0"/>
          </a:p>
        </p:txBody>
      </p:sp>
      <p:sp>
        <p:nvSpPr>
          <p:cNvPr id="19" name="Demo arrow 2"/>
          <p:cNvSpPr/>
          <p:nvPr/>
        </p:nvSpPr>
        <p:spPr>
          <a:xfrm>
            <a:off x="5751576" y="2624328"/>
            <a:ext cx="246888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Demo card 3 shadow"/>
          <p:cNvSpPr/>
          <p:nvPr/>
        </p:nvSpPr>
        <p:spPr>
          <a:xfrm>
            <a:off x="6099048" y="1389888"/>
            <a:ext cx="2468880" cy="2331720"/>
          </a:xfrm>
          <a:prstGeom prst="roundRect">
            <a:avLst>
              <a:gd name="adj" fmla="val 4706"/>
            </a:avLst>
          </a:prstGeom>
          <a:solidFill>
            <a:schemeClr val="accent4"/>
          </a:solidFill>
          <a:ln w="3175">
            <a:solidFill>
              <a:schemeClr val="accent4"/>
            </a:solidFill>
            <a:prstDash val="solid"/>
          </a:ln>
        </p:spPr>
      </p:sp>
      <p:sp>
        <p:nvSpPr>
          <p:cNvPr id="21" name="Demo card 3"/>
          <p:cNvSpPr/>
          <p:nvPr/>
        </p:nvSpPr>
        <p:spPr>
          <a:xfrm>
            <a:off x="6035040" y="1325880"/>
            <a:ext cx="2468880" cy="2331720"/>
          </a:xfrm>
          <a:prstGeom prst="roundRect">
            <a:avLst>
              <a:gd name="adj" fmla="val 4706"/>
            </a:avLst>
          </a:prstGeom>
          <a:solidFill>
            <a:schemeClr val="accent3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2" name="Demo number 3"/>
          <p:cNvSpPr/>
          <p:nvPr/>
        </p:nvSpPr>
        <p:spPr>
          <a:xfrm>
            <a:off x="6217920" y="1481328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14447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Liam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812280" y="17373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 min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214884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Sipho’s Morning live: choices, flowchart builds, finished diagram.</a:t>
            </a:r>
            <a:endParaRPr lang="en-US" sz="1600" dirty="0"/>
          </a:p>
        </p:txBody>
      </p:sp>
      <p:sp>
        <p:nvSpPr>
          <p:cNvPr id="27" name="Backup banner shadow"/>
          <p:cNvSpPr/>
          <p:nvPr/>
        </p:nvSpPr>
        <p:spPr>
          <a:xfrm>
            <a:off x="521208" y="3995928"/>
            <a:ext cx="8001000" cy="54864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 w="3175">
            <a:solidFill>
              <a:schemeClr val="accent4"/>
            </a:solidFill>
            <a:prstDash val="solid"/>
          </a:ln>
        </p:spPr>
      </p:sp>
      <p:sp>
        <p:nvSpPr>
          <p:cNvPr id="28" name="Backup banner"/>
          <p:cNvSpPr/>
          <p:nvPr/>
        </p:nvSpPr>
        <p:spPr>
          <a:xfrm>
            <a:off x="457200" y="3931920"/>
            <a:ext cx="8001000" cy="54864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3931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if tech fails: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and a screen recording are ready.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Impact: Closing the Gaps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gap from slide 2 and our answer</a:t>
            </a:r>
            <a:endParaRPr lang="en-US" sz="1600" dirty="0"/>
          </a:p>
        </p:txBody>
      </p:sp>
      <p:graphicFrame>
        <p:nvGraphicFramePr>
          <p:cNvPr id="6" name="Gap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1872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answer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and open. The story game works offline once saved; Scratch has an offline editor.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Curriculum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CAPS lesson plans that show how to teach the topic.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step-by-step guide can act as built-in training when CPD is missing.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principal can adopt it without an ICT coordinator: it is ready to use.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Openly licensed and instantly downloadable, with no procurement delay.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game-based entry point that aims to make technology feel achievable.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Impact: Under-Resourced Schools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infrastructure and language</a:t>
            </a:r>
            <a:endParaRPr lang="en-US" sz="1600" dirty="0"/>
          </a:p>
        </p:txBody>
      </p:sp>
      <p:sp>
        <p:nvSpPr>
          <p:cNvPr id="4" name="Impact card 1 shadow"/>
          <p:cNvSpPr/>
          <p:nvPr/>
        </p:nvSpPr>
        <p:spPr>
          <a:xfrm>
            <a:off x="521208" y="1344168"/>
            <a:ext cx="2606040" cy="2606040"/>
          </a:xfrm>
          <a:prstGeom prst="roundRect">
            <a:avLst>
              <a:gd name="adj" fmla="val 4211"/>
            </a:avLst>
          </a:prstGeom>
          <a:solidFill>
            <a:schemeClr val="accent4"/>
          </a:solidFill>
          <a:ln w="3175">
            <a:solidFill>
              <a:schemeClr val="accent4"/>
            </a:solidFill>
            <a:prstDash val="solid"/>
          </a:ln>
        </p:spPr>
      </p:sp>
      <p:sp>
        <p:nvSpPr>
          <p:cNvPr id="5" name="Impact card 1"/>
          <p:cNvSpPr/>
          <p:nvPr/>
        </p:nvSpPr>
        <p:spPr>
          <a:xfrm>
            <a:off x="457200" y="1280160"/>
            <a:ext cx="260604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" name="Impact icon 1"/>
          <p:cNvSpPr/>
          <p:nvPr/>
        </p:nvSpPr>
        <p:spPr>
          <a:xfrm>
            <a:off x="640080" y="1435608"/>
            <a:ext cx="384048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1389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R150–R400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3172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class of 36 (teacher guide estimate). All software is free; printing and supplies are the only cost.</a:t>
            </a:r>
            <a:endParaRPr lang="en-US" sz="1400" dirty="0"/>
          </a:p>
        </p:txBody>
      </p:sp>
      <p:sp>
        <p:nvSpPr>
          <p:cNvPr id="10" name="Impact card 2 shadow"/>
          <p:cNvSpPr/>
          <p:nvPr/>
        </p:nvSpPr>
        <p:spPr>
          <a:xfrm>
            <a:off x="3310128" y="1344168"/>
            <a:ext cx="2606040" cy="2606040"/>
          </a:xfrm>
          <a:prstGeom prst="roundRect">
            <a:avLst>
              <a:gd name="adj" fmla="val 4211"/>
            </a:avLst>
          </a:prstGeom>
          <a:solidFill>
            <a:schemeClr val="accent4"/>
          </a:solidFill>
          <a:ln w="3175">
            <a:solidFill>
              <a:schemeClr val="accent4"/>
            </a:solidFill>
            <a:prstDash val="solid"/>
          </a:ln>
        </p:spPr>
      </p:sp>
      <p:sp>
        <p:nvSpPr>
          <p:cNvPr id="11" name="Impact card 2"/>
          <p:cNvSpPr/>
          <p:nvPr/>
        </p:nvSpPr>
        <p:spPr>
          <a:xfrm>
            <a:off x="3246120" y="1280160"/>
            <a:ext cx="260604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2" name="Impact icon 2"/>
          <p:cNvSpPr/>
          <p:nvPr/>
        </p:nvSpPr>
        <p:spPr>
          <a:xfrm>
            <a:off x="3429000" y="1435608"/>
            <a:ext cx="384048" cy="274320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31920" y="1389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 pair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33172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device per pair; Lesson 5 is individual. The story game works offline once saved; the MakeCode simulator needs internet.</a:t>
            </a:r>
            <a:endParaRPr lang="en-US" sz="1400" dirty="0"/>
          </a:p>
        </p:txBody>
      </p:sp>
      <p:sp>
        <p:nvSpPr>
          <p:cNvPr id="16" name="Impact card 3 shadow"/>
          <p:cNvSpPr/>
          <p:nvPr/>
        </p:nvSpPr>
        <p:spPr>
          <a:xfrm>
            <a:off x="6099048" y="1344168"/>
            <a:ext cx="2606040" cy="2606040"/>
          </a:xfrm>
          <a:prstGeom prst="roundRect">
            <a:avLst>
              <a:gd name="adj" fmla="val 4211"/>
            </a:avLst>
          </a:prstGeom>
          <a:solidFill>
            <a:schemeClr val="accent4"/>
          </a:solidFill>
          <a:ln w="3175">
            <a:solidFill>
              <a:schemeClr val="accent4"/>
            </a:solidFill>
            <a:prstDash val="solid"/>
          </a:ln>
        </p:spPr>
      </p:sp>
      <p:sp>
        <p:nvSpPr>
          <p:cNvPr id="17" name="Impact card 3"/>
          <p:cNvSpPr/>
          <p:nvPr/>
        </p:nvSpPr>
        <p:spPr>
          <a:xfrm>
            <a:off x="6035040" y="1280160"/>
            <a:ext cx="260604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8" name="Impact icon 3"/>
          <p:cNvSpPr/>
          <p:nvPr/>
        </p:nvSpPr>
        <p:spPr>
          <a:xfrm>
            <a:off x="6217920" y="1435608"/>
            <a:ext cx="384048" cy="274320"/>
          </a:xfrm>
          <a:prstGeom prst="diamond">
            <a:avLst/>
          </a:prstGeom>
          <a:solidFill>
            <a:schemeClr val="accent3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20840" y="1389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languages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33172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 in English, Afrikaans and Setswana. CC BY-SA 4.0 lets teachers translate and share back.</a:t>
            </a:r>
            <a:endParaRPr lang="en-US" sz="1400" dirty="0"/>
          </a:p>
        </p:txBody>
      </p:sp>
      <p:sp>
        <p:nvSpPr>
          <p:cNvPr id="22" name="Next step banner shadow"/>
          <p:cNvSpPr/>
          <p:nvPr/>
        </p:nvSpPr>
        <p:spPr>
          <a:xfrm>
            <a:off x="521208" y="4087368"/>
            <a:ext cx="8229600" cy="640080"/>
          </a:xfrm>
          <a:prstGeom prst="roundRect">
            <a:avLst>
              <a:gd name="adj" fmla="val 17143"/>
            </a:avLst>
          </a:prstGeom>
          <a:solidFill>
            <a:schemeClr val="accent4"/>
          </a:solidFill>
          <a:ln w="3175">
            <a:solidFill>
              <a:schemeClr val="accent4"/>
            </a:solidFill>
            <a:prstDash val="solid"/>
          </a:ln>
        </p:spPr>
      </p:sp>
      <p:sp>
        <p:nvSpPr>
          <p:cNvPr id="23" name="Next step banner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7143"/>
            </a:avLst>
          </a:prstGeom>
          <a:solidFill>
            <a:schemeClr val="accent3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4023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in one or two classes and compare Lesson 5 rubric results and teacher feedback. Not yet piloted.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Questions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use, adapt and share (CC BY-SA 4.0)</a:t>
            </a:r>
            <a:endParaRPr lang="en-US" sz="1800" dirty="0"/>
          </a:p>
        </p:txBody>
      </p:sp>
      <p:sp>
        <p:nvSpPr>
          <p:cNvPr id="4" name="Text 2">
            <a:hlinkClick r:id="rId1" tooltip=""/>
          </p:cNvPr>
          <p:cNvSpPr txBox="1"/>
          <p:nvPr/>
        </p:nvSpPr>
        <p:spPr>
          <a:xfrm>
            <a:off x="548640" y="25603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Sipho’s Morning: vissitingliam.github.io/sipho-algorithm-story</a:t>
            </a:r>
            <a:endParaRPr lang="en-US" sz="1400" dirty="0"/>
          </a:p>
        </p:txBody>
      </p:sp>
      <p:sp>
        <p:nvSpPr>
          <p:cNvPr id="5" name="Sun"/>
          <p:cNvSpPr/>
          <p:nvPr/>
        </p:nvSpPr>
        <p:spPr>
          <a:xfrm>
            <a:off x="6675120" y="2834640"/>
            <a:ext cx="1554480" cy="1554480"/>
          </a:xfrm>
          <a:prstGeom prst="ellipse">
            <a:avLst/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</p:sp>
      <p:sp>
        <p:nvSpPr>
          <p:cNvPr id="6" name="Hill"/>
          <p:cNvSpPr/>
          <p:nvPr/>
        </p:nvSpPr>
        <p:spPr>
          <a:xfrm>
            <a:off x="-2286000" y="3977640"/>
            <a:ext cx="13716000" cy="2926080"/>
          </a:xfrm>
          <a:prstGeom prst="ellipse">
            <a:avLst/>
          </a:prstGeom>
          <a:solidFill>
            <a:schemeClr val="tx1"/>
          </a:solidFill>
          <a:ln w="3175">
            <a:solidFill>
              <a:schemeClr val="tx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Sipho Morning">
  <a:themeElements>
    <a:clrScheme name="Sipho Morning">
      <a:dk1>
        <a:srgbClr val="1C2433"/>
      </a:dk1>
      <a:lt1>
        <a:srgbClr val="FBF6EC"/>
      </a:lt1>
      <a:dk2>
        <a:srgbClr val="4B5262"/>
      </a:dk2>
      <a:lt2>
        <a:srgbClr val="FFFDF8"/>
      </a:lt2>
      <a:accent1>
        <a:srgbClr val="E8590C"/>
      </a:accent1>
      <a:accent2>
        <a:srgbClr val="A63D05"/>
      </a:accent2>
      <a:accent3>
        <a:srgbClr val="FDE3B8"/>
      </a:accent3>
      <a:accent4>
        <a:srgbClr val="E9DCC3"/>
      </a:accent4>
      <a:accent5>
        <a:srgbClr val="2E7D32"/>
      </a:accent5>
      <a:accent6>
        <a:srgbClr val="7A5200"/>
      </a:accent6>
      <a:hlink>
        <a:srgbClr val="0B3FA8"/>
      </a:hlink>
      <a:folHlink>
        <a:srgbClr val="4B5262"/>
      </a:folHlink>
    </a:clrScheme>
    <a:fontScheme name="Sipho Morning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Algorithms &amp; Flowcharts (Grade 8)</dc:title>
  <dc:subject>PptxGenJS Presentation</dc:subject>
  <dc:creator>Group CLT</dc:creator>
  <cp:lastModifiedBy>Group CLT</cp:lastModifiedBy>
  <cp:revision>1</cp:revision>
  <dcterms:created xsi:type="dcterms:W3CDTF">2026-10-20T10:43:06Z</dcterms:created>
  <dcterms:modified xsi:type="dcterms:W3CDTF">2026-10-20T10:43:06Z</dcterms:modified>
</cp:coreProperties>
</file>