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64" r:id="rId4"/>
    <p:sldId id="258" r:id="rId5"/>
    <p:sldId id="266" r:id="rId6"/>
    <p:sldId id="260" r:id="rId7"/>
    <p:sldId id="261" r:id="rId8"/>
    <p:sldId id="265" r:id="rId9"/>
    <p:sldId id="262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368F14DA-0F6F-4150-879D-E40656C19FF6}">
          <p14:sldIdLst>
            <p14:sldId id="256"/>
          </p14:sldIdLst>
        </p14:section>
        <p14:section name="Problem statement" id="{24CDEE6F-8C33-F8A0-DD51-E1C93662AFB7}">
          <p14:sldIdLst>
            <p14:sldId id="257"/>
            <p14:sldId id="264"/>
          </p14:sldIdLst>
        </p14:section>
        <p14:section name="Design process" id="{16F78654-AA52-B0B3-1FB6-98F6C7EAB084}">
          <p14:sldIdLst>
            <p14:sldId id="258"/>
          </p14:sldIdLst>
        </p14:section>
        <p14:section name="Live demonstration" id="{95454124-398A-ADAC-1A34-2C2486DBA413}">
          <p14:sldIdLst>
            <p14:sldId id="266"/>
          </p14:sldIdLst>
        </p14:section>
        <p14:section name="Impact" id="{E2A70F58-CDC5-03CD-3738-06F9DFC5DB56}">
          <p14:sldIdLst>
            <p14:sldId id="260"/>
            <p14:sldId id="261"/>
            <p14:sldId id="265"/>
          </p14:sldIdLst>
        </p14:section>
        <p14:section name="Questions" id="{AA7B694E-DE77-F1DB-300F-3F07608BBC2D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3" d="100"/>
          <a:sy n="143" d="100"/>
        </p:scale>
        <p:origin x="68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66081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group and topic. Hand to the first speaker.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0:00–1:30. Lead with two or three gaps, not all six. End on: teachers need a ready model they can run with limited ICT skills.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2CD6E2-1AE0-833B-6652-B92C03ABD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28ECE8-B11E-CC43-5585-5F7E82D76E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819965-866B-F203-4E7A-E3887747A4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1:00–1:30 (about 30 seconds). Everything is in one GitHub repo. One short phrase per card: learner material, teacher guide, assessment, the story game, the open licence. Point to the QR code and end on: free to download, adapt and share.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FFDFE3-3285-E724-1C43-5FC989F801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5317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1:30–3:30. Say why we integrated coding, show the early Lesson 2 draft versus the final, and name the idea we dropped.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3:30–9:30 (about 6 min). Camilla about 2, Thabo about 1, Liam about 3. Screenshots and a screen recording ready as backup.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9:30–10:30. Walk the table quickly. Management is a partial answer: a principal can adopt it without a coordinator.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10:30–11:30. Cost, infrastructure, language. Close on the honest next step: not yet piloted.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11:30–15:00. Every member answers. Prepare: why games, why Setswana, what is not yet tested, how a school with no internet uses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4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tx2"/>
                </a:solidFill>
              </a:rPr>
              <a:t>Group CLT  ·  North-West University  ·  DIGD 521EC  ·  CC BY-SA 4.0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22960"/>
            <a:ext cx="585216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ssitingLiam/sipho-algorithm-story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vissitingliam.github.io/sipho-algorithm-story/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22960"/>
            <a:ext cx="5852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tx1"/>
                </a:solidFill>
              </a:rPr>
              <a:t>Introduction to Algorithms &amp; Flowcharts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46888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8  •  Coding  •  Sipho’s Morning: An Algorithm Story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88036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CLT  ·  North-West University  ·  DIGD 521EC</a:t>
            </a:r>
            <a:endParaRPr lang="en-US" sz="1400" dirty="0"/>
          </a:p>
        </p:txBody>
      </p:sp>
      <p:sp>
        <p:nvSpPr>
          <p:cNvPr id="5" name="Sun"/>
          <p:cNvSpPr/>
          <p:nvPr/>
        </p:nvSpPr>
        <p:spPr>
          <a:xfrm>
            <a:off x="6675120" y="2834640"/>
            <a:ext cx="1554480" cy="1554480"/>
          </a:xfrm>
          <a:prstGeom prst="ellipse">
            <a:avLst/>
          </a:prstGeom>
          <a:solidFill>
            <a:schemeClr val="accent1"/>
          </a:solidFill>
          <a:ln w="3175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Hill"/>
          <p:cNvSpPr/>
          <p:nvPr/>
        </p:nvSpPr>
        <p:spPr>
          <a:xfrm>
            <a:off x="-2286000" y="3977640"/>
            <a:ext cx="13716000" cy="2926080"/>
          </a:xfrm>
          <a:prstGeom prst="ellipse">
            <a:avLst/>
          </a:prstGeom>
          <a:solidFill>
            <a:schemeClr val="tx1"/>
          </a:solidFill>
          <a:ln w="3175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548640" y="4572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 BY-SA 4.0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The Gap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from Chisango (2021) and Bati (2021)</a:t>
            </a:r>
            <a:endParaRPr lang="en-US" sz="1600" dirty="0"/>
          </a:p>
        </p:txBody>
      </p:sp>
      <p:sp>
        <p:nvSpPr>
          <p:cNvPr id="4" name="Gap card 1 shadow"/>
          <p:cNvSpPr/>
          <p:nvPr/>
        </p:nvSpPr>
        <p:spPr>
          <a:xfrm>
            <a:off x="521208" y="1325880"/>
            <a:ext cx="8229600" cy="521208"/>
          </a:xfrm>
          <a:prstGeom prst="roundRect">
            <a:avLst>
              <a:gd name="adj" fmla="val 21053"/>
            </a:avLst>
          </a:prstGeom>
          <a:solidFill>
            <a:schemeClr val="accent4"/>
          </a:solidFill>
          <a:ln w="317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Gap card 1"/>
          <p:cNvSpPr/>
          <p:nvPr/>
        </p:nvSpPr>
        <p:spPr>
          <a:xfrm>
            <a:off x="457200" y="1261872"/>
            <a:ext cx="8229600" cy="521208"/>
          </a:xfrm>
          <a:prstGeom prst="roundRect">
            <a:avLst>
              <a:gd name="adj" fmla="val 21053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Gap icon 1"/>
          <p:cNvSpPr/>
          <p:nvPr/>
        </p:nvSpPr>
        <p:spPr>
          <a:xfrm>
            <a:off x="594360" y="1394460"/>
            <a:ext cx="347472" cy="25603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1097280" y="1261872"/>
            <a:ext cx="12801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377440" y="1261872"/>
            <a:ext cx="6217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Outdated or too few devices, limited internet, theft and vandalism.</a:t>
            </a:r>
            <a:endParaRPr lang="en-US" sz="1400" dirty="0"/>
          </a:p>
        </p:txBody>
      </p:sp>
      <p:sp>
        <p:nvSpPr>
          <p:cNvPr id="9" name="Gap card 2 shadow"/>
          <p:cNvSpPr/>
          <p:nvPr/>
        </p:nvSpPr>
        <p:spPr>
          <a:xfrm>
            <a:off x="521208" y="1901952"/>
            <a:ext cx="8229600" cy="521208"/>
          </a:xfrm>
          <a:prstGeom prst="roundRect">
            <a:avLst>
              <a:gd name="adj" fmla="val 21053"/>
            </a:avLst>
          </a:prstGeom>
          <a:solidFill>
            <a:schemeClr val="accent4"/>
          </a:solidFill>
          <a:ln w="317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Gap card 2"/>
          <p:cNvSpPr/>
          <p:nvPr/>
        </p:nvSpPr>
        <p:spPr>
          <a:xfrm>
            <a:off x="457200" y="1837944"/>
            <a:ext cx="8229600" cy="521208"/>
          </a:xfrm>
          <a:prstGeom prst="roundRect">
            <a:avLst>
              <a:gd name="adj" fmla="val 21053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Gap icon 2"/>
          <p:cNvSpPr/>
          <p:nvPr/>
        </p:nvSpPr>
        <p:spPr>
          <a:xfrm>
            <a:off x="594360" y="1970532"/>
            <a:ext cx="347472" cy="256032"/>
          </a:xfrm>
          <a:prstGeom prst="rect">
            <a:avLst/>
          </a:prstGeom>
          <a:solidFill>
            <a:schemeClr val="accent3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1097280" y="1837944"/>
            <a:ext cx="12801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Curriculum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377440" y="1837944"/>
            <a:ext cx="6217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teachers don’t use ICT in other subjects; no pedagogical models for it.</a:t>
            </a:r>
            <a:endParaRPr lang="en-US" sz="1400" dirty="0"/>
          </a:p>
        </p:txBody>
      </p:sp>
      <p:sp>
        <p:nvSpPr>
          <p:cNvPr id="14" name="Gap card 3 shadow"/>
          <p:cNvSpPr/>
          <p:nvPr/>
        </p:nvSpPr>
        <p:spPr>
          <a:xfrm>
            <a:off x="521208" y="2478024"/>
            <a:ext cx="8229600" cy="521208"/>
          </a:xfrm>
          <a:prstGeom prst="roundRect">
            <a:avLst>
              <a:gd name="adj" fmla="val 21053"/>
            </a:avLst>
          </a:prstGeom>
          <a:solidFill>
            <a:schemeClr val="accent4"/>
          </a:solidFill>
          <a:ln w="317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Gap card 3"/>
          <p:cNvSpPr/>
          <p:nvPr/>
        </p:nvSpPr>
        <p:spPr>
          <a:xfrm>
            <a:off x="457200" y="2414016"/>
            <a:ext cx="8229600" cy="521208"/>
          </a:xfrm>
          <a:prstGeom prst="roundRect">
            <a:avLst>
              <a:gd name="adj" fmla="val 21053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Gap icon 3"/>
          <p:cNvSpPr/>
          <p:nvPr/>
        </p:nvSpPr>
        <p:spPr>
          <a:xfrm>
            <a:off x="594360" y="2546604"/>
            <a:ext cx="347472" cy="256032"/>
          </a:xfrm>
          <a:prstGeom prst="diamond">
            <a:avLst/>
          </a:prstGeom>
          <a:solidFill>
            <a:schemeClr val="accent3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1097280" y="2414016"/>
            <a:ext cx="12801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377440" y="2414016"/>
            <a:ext cx="6217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half of teachers had no ICT training in two years; teachers relied on learners.</a:t>
            </a:r>
            <a:endParaRPr lang="en-US" sz="1400" dirty="0"/>
          </a:p>
        </p:txBody>
      </p:sp>
      <p:sp>
        <p:nvSpPr>
          <p:cNvPr id="19" name="Gap card 4 shadow"/>
          <p:cNvSpPr/>
          <p:nvPr/>
        </p:nvSpPr>
        <p:spPr>
          <a:xfrm>
            <a:off x="521208" y="3054096"/>
            <a:ext cx="8229600" cy="521208"/>
          </a:xfrm>
          <a:prstGeom prst="roundRect">
            <a:avLst>
              <a:gd name="adj" fmla="val 21053"/>
            </a:avLst>
          </a:prstGeom>
          <a:solidFill>
            <a:schemeClr val="accent4"/>
          </a:solidFill>
          <a:ln w="317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Gap card 4"/>
          <p:cNvSpPr/>
          <p:nvPr/>
        </p:nvSpPr>
        <p:spPr>
          <a:xfrm>
            <a:off x="457200" y="2990088"/>
            <a:ext cx="8229600" cy="521208"/>
          </a:xfrm>
          <a:prstGeom prst="roundRect">
            <a:avLst>
              <a:gd name="adj" fmla="val 21053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Gap icon 4"/>
          <p:cNvSpPr/>
          <p:nvPr/>
        </p:nvSpPr>
        <p:spPr>
          <a:xfrm>
            <a:off x="594360" y="3122676"/>
            <a:ext cx="347472" cy="25603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 txBox="1"/>
          <p:nvPr/>
        </p:nvSpPr>
        <p:spPr>
          <a:xfrm>
            <a:off x="1097280" y="2990088"/>
            <a:ext cx="12801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377440" y="2990088"/>
            <a:ext cx="6217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ICT support is minimal, even where coordinators exist (60% of schools).</a:t>
            </a:r>
            <a:endParaRPr lang="en-US" sz="1400" dirty="0"/>
          </a:p>
        </p:txBody>
      </p:sp>
      <p:sp>
        <p:nvSpPr>
          <p:cNvPr id="24" name="Gap card 5 shadow"/>
          <p:cNvSpPr/>
          <p:nvPr/>
        </p:nvSpPr>
        <p:spPr>
          <a:xfrm>
            <a:off x="521208" y="3630168"/>
            <a:ext cx="8229600" cy="521208"/>
          </a:xfrm>
          <a:prstGeom prst="roundRect">
            <a:avLst>
              <a:gd name="adj" fmla="val 21053"/>
            </a:avLst>
          </a:prstGeom>
          <a:solidFill>
            <a:schemeClr val="accent4"/>
          </a:solidFill>
          <a:ln w="317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Gap card 5"/>
          <p:cNvSpPr/>
          <p:nvPr/>
        </p:nvSpPr>
        <p:spPr>
          <a:xfrm>
            <a:off x="457200" y="3566160"/>
            <a:ext cx="8229600" cy="521208"/>
          </a:xfrm>
          <a:prstGeom prst="roundRect">
            <a:avLst>
              <a:gd name="adj" fmla="val 21053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Gap icon 5"/>
          <p:cNvSpPr/>
          <p:nvPr/>
        </p:nvSpPr>
        <p:spPr>
          <a:xfrm>
            <a:off x="594360" y="3698748"/>
            <a:ext cx="347472" cy="256032"/>
          </a:xfrm>
          <a:prstGeom prst="rect">
            <a:avLst/>
          </a:prstGeom>
          <a:solidFill>
            <a:schemeClr val="accent3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 txBox="1"/>
          <p:nvPr/>
        </p:nvSpPr>
        <p:spPr>
          <a:xfrm>
            <a:off x="1097280" y="3566160"/>
            <a:ext cx="12801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2377440" y="3566160"/>
            <a:ext cx="6217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resources arrive late; assistive technology is almost nonexistent.</a:t>
            </a:r>
            <a:endParaRPr lang="en-US" sz="1400" dirty="0"/>
          </a:p>
        </p:txBody>
      </p:sp>
      <p:sp>
        <p:nvSpPr>
          <p:cNvPr id="29" name="Gap card 6 shadow"/>
          <p:cNvSpPr/>
          <p:nvPr/>
        </p:nvSpPr>
        <p:spPr>
          <a:xfrm>
            <a:off x="521208" y="4206240"/>
            <a:ext cx="8229600" cy="521208"/>
          </a:xfrm>
          <a:prstGeom prst="roundRect">
            <a:avLst>
              <a:gd name="adj" fmla="val 21053"/>
            </a:avLst>
          </a:prstGeom>
          <a:solidFill>
            <a:schemeClr val="accent4"/>
          </a:solidFill>
          <a:ln w="317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Gap card 6"/>
          <p:cNvSpPr/>
          <p:nvPr/>
        </p:nvSpPr>
        <p:spPr>
          <a:xfrm>
            <a:off x="457200" y="4142232"/>
            <a:ext cx="8229600" cy="521208"/>
          </a:xfrm>
          <a:prstGeom prst="roundRect">
            <a:avLst>
              <a:gd name="adj" fmla="val 21053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Gap icon 6"/>
          <p:cNvSpPr/>
          <p:nvPr/>
        </p:nvSpPr>
        <p:spPr>
          <a:xfrm>
            <a:off x="594360" y="4274820"/>
            <a:ext cx="347472" cy="256032"/>
          </a:xfrm>
          <a:prstGeom prst="diamond">
            <a:avLst/>
          </a:prstGeom>
          <a:solidFill>
            <a:schemeClr val="accent3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 txBox="1"/>
          <p:nvPr/>
        </p:nvSpPr>
        <p:spPr>
          <a:xfrm>
            <a:off x="1097280" y="4142232"/>
            <a:ext cx="12801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2377440" y="4142232"/>
            <a:ext cx="6217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experienced teachers avoid technology (“technology want nots”).</a:t>
            </a:r>
            <a:endParaRPr lang="en-US" sz="14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38928-7243-CF4D-D7C2-2F3C1ABE9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AD66DDE-1261-FFF4-437F-70FF37E1A740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Content Summary</a:t>
            </a:r>
            <a:endParaRPr lang="en-US" sz="34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6EFCC42-3184-91E2-561F-22787CEC5581}"/>
              </a:ext>
            </a:extLst>
          </p:cNvPr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full OER package, hosted on GitHub</a:t>
            </a:r>
            <a:endParaRPr lang="en-US" sz="1600" dirty="0"/>
          </a:p>
        </p:txBody>
      </p:sp>
      <p:sp>
        <p:nvSpPr>
          <p:cNvPr id="4" name="Summary card 1 shadow"/>
          <p:cNvSpPr/>
          <p:nvPr/>
        </p:nvSpPr>
        <p:spPr>
          <a:xfrm>
            <a:off x="521208" y="1325880"/>
            <a:ext cx="5760720" cy="521208"/>
          </a:xfrm>
          <a:prstGeom prst="roundRect">
            <a:avLst>
              <a:gd name="adj" fmla="val 21053"/>
            </a:avLst>
          </a:prstGeom>
          <a:solidFill>
            <a:schemeClr val="accent4"/>
          </a:solidFill>
          <a:ln w="317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ummary card 1"/>
          <p:cNvSpPr/>
          <p:nvPr/>
        </p:nvSpPr>
        <p:spPr>
          <a:xfrm>
            <a:off x="457200" y="1261872"/>
            <a:ext cx="5760720" cy="521208"/>
          </a:xfrm>
          <a:prstGeom prst="roundRect">
            <a:avLst>
              <a:gd name="adj" fmla="val 21053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ummary icon 1"/>
          <p:cNvSpPr/>
          <p:nvPr/>
        </p:nvSpPr>
        <p:spPr>
          <a:xfrm>
            <a:off x="594360" y="1394460"/>
            <a:ext cx="347472" cy="25603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1097280" y="1261872"/>
            <a:ext cx="14630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Learner material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606040" y="1261872"/>
            <a:ext cx="3520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Learner guide, flowchart worksheet and exit ticket.</a:t>
            </a:r>
            <a:endParaRPr lang="en-US" sz="1200" dirty="0"/>
          </a:p>
        </p:txBody>
      </p:sp>
      <p:sp>
        <p:nvSpPr>
          <p:cNvPr id="9" name="Summary card 2 shadow"/>
          <p:cNvSpPr/>
          <p:nvPr/>
        </p:nvSpPr>
        <p:spPr>
          <a:xfrm>
            <a:off x="521208" y="1901952"/>
            <a:ext cx="5760720" cy="521208"/>
          </a:xfrm>
          <a:prstGeom prst="roundRect">
            <a:avLst>
              <a:gd name="adj" fmla="val 21053"/>
            </a:avLst>
          </a:prstGeom>
          <a:solidFill>
            <a:schemeClr val="accent4"/>
          </a:solidFill>
          <a:ln w="317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ummary card 2"/>
          <p:cNvSpPr/>
          <p:nvPr/>
        </p:nvSpPr>
        <p:spPr>
          <a:xfrm>
            <a:off x="457200" y="1837944"/>
            <a:ext cx="5760720" cy="521208"/>
          </a:xfrm>
          <a:prstGeom prst="roundRect">
            <a:avLst>
              <a:gd name="adj" fmla="val 21053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ummary icon 2"/>
          <p:cNvSpPr/>
          <p:nvPr/>
        </p:nvSpPr>
        <p:spPr>
          <a:xfrm>
            <a:off x="594360" y="1970532"/>
            <a:ext cx="347472" cy="256032"/>
          </a:xfrm>
          <a:prstGeom prst="rect">
            <a:avLst/>
          </a:prstGeom>
          <a:solidFill>
            <a:schemeClr val="accent3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1097280" y="1837944"/>
            <a:ext cx="14630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guide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606040" y="1837944"/>
            <a:ext cx="3520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for Lessons 1-5 plus five CAPS lesson plans.</a:t>
            </a:r>
            <a:endParaRPr lang="en-US" sz="1200" dirty="0"/>
          </a:p>
        </p:txBody>
      </p:sp>
      <p:sp>
        <p:nvSpPr>
          <p:cNvPr id="14" name="Summary card 3 shadow"/>
          <p:cNvSpPr/>
          <p:nvPr/>
        </p:nvSpPr>
        <p:spPr>
          <a:xfrm>
            <a:off x="521208" y="2478024"/>
            <a:ext cx="5760720" cy="521208"/>
          </a:xfrm>
          <a:prstGeom prst="roundRect">
            <a:avLst>
              <a:gd name="adj" fmla="val 21053"/>
            </a:avLst>
          </a:prstGeom>
          <a:solidFill>
            <a:schemeClr val="accent4"/>
          </a:solidFill>
          <a:ln w="317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ummary card 3"/>
          <p:cNvSpPr/>
          <p:nvPr/>
        </p:nvSpPr>
        <p:spPr>
          <a:xfrm>
            <a:off x="457200" y="2414016"/>
            <a:ext cx="5760720" cy="521208"/>
          </a:xfrm>
          <a:prstGeom prst="roundRect">
            <a:avLst>
              <a:gd name="adj" fmla="val 21053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ummary icon 3"/>
          <p:cNvSpPr/>
          <p:nvPr/>
        </p:nvSpPr>
        <p:spPr>
          <a:xfrm>
            <a:off x="594360" y="2546604"/>
            <a:ext cx="347472" cy="256032"/>
          </a:xfrm>
          <a:prstGeom prst="diamond">
            <a:avLst/>
          </a:prstGeom>
          <a:solidFill>
            <a:schemeClr val="accent3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1097280" y="2414016"/>
            <a:ext cx="14630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606040" y="2414016"/>
            <a:ext cx="3520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and summative papers, each with a memo.</a:t>
            </a:r>
            <a:endParaRPr lang="en-US" sz="1200" dirty="0"/>
          </a:p>
        </p:txBody>
      </p:sp>
      <p:sp>
        <p:nvSpPr>
          <p:cNvPr id="19" name="Summary card 4 shadow"/>
          <p:cNvSpPr/>
          <p:nvPr/>
        </p:nvSpPr>
        <p:spPr>
          <a:xfrm>
            <a:off x="521208" y="3054096"/>
            <a:ext cx="5760720" cy="521208"/>
          </a:xfrm>
          <a:prstGeom prst="roundRect">
            <a:avLst>
              <a:gd name="adj" fmla="val 21053"/>
            </a:avLst>
          </a:prstGeom>
          <a:solidFill>
            <a:schemeClr val="accent4"/>
          </a:solidFill>
          <a:ln w="317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ummary card 4"/>
          <p:cNvSpPr/>
          <p:nvPr/>
        </p:nvSpPr>
        <p:spPr>
          <a:xfrm>
            <a:off x="457200" y="2990088"/>
            <a:ext cx="5760720" cy="521208"/>
          </a:xfrm>
          <a:prstGeom prst="roundRect">
            <a:avLst>
              <a:gd name="adj" fmla="val 21053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ummary icon 4"/>
          <p:cNvSpPr/>
          <p:nvPr/>
        </p:nvSpPr>
        <p:spPr>
          <a:xfrm>
            <a:off x="594360" y="3122676"/>
            <a:ext cx="347472" cy="25603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 txBox="1"/>
          <p:nvPr/>
        </p:nvSpPr>
        <p:spPr>
          <a:xfrm>
            <a:off x="1097280" y="2990088"/>
            <a:ext cx="14630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game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2606040" y="2990088"/>
            <a:ext cx="3520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Sipho’s Morning, an algorithm story that runs in a browser.</a:t>
            </a:r>
            <a:endParaRPr lang="en-US" sz="1200" dirty="0"/>
          </a:p>
        </p:txBody>
      </p:sp>
      <p:sp>
        <p:nvSpPr>
          <p:cNvPr id="24" name="Summary card 5 shadow"/>
          <p:cNvSpPr/>
          <p:nvPr/>
        </p:nvSpPr>
        <p:spPr>
          <a:xfrm>
            <a:off x="521208" y="3630168"/>
            <a:ext cx="5760720" cy="521208"/>
          </a:xfrm>
          <a:prstGeom prst="roundRect">
            <a:avLst>
              <a:gd name="adj" fmla="val 21053"/>
            </a:avLst>
          </a:prstGeom>
          <a:solidFill>
            <a:schemeClr val="accent4"/>
          </a:solidFill>
          <a:ln w="317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ummary card 5"/>
          <p:cNvSpPr/>
          <p:nvPr/>
        </p:nvSpPr>
        <p:spPr>
          <a:xfrm>
            <a:off x="457200" y="3566160"/>
            <a:ext cx="5760720" cy="521208"/>
          </a:xfrm>
          <a:prstGeom prst="roundRect">
            <a:avLst>
              <a:gd name="adj" fmla="val 21053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ummary icon 5"/>
          <p:cNvSpPr/>
          <p:nvPr/>
        </p:nvSpPr>
        <p:spPr>
          <a:xfrm>
            <a:off x="594360" y="3698748"/>
            <a:ext cx="347472" cy="256032"/>
          </a:xfrm>
          <a:prstGeom prst="rect">
            <a:avLst/>
          </a:prstGeom>
          <a:solidFill>
            <a:schemeClr val="accent3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 txBox="1"/>
          <p:nvPr/>
        </p:nvSpPr>
        <p:spPr>
          <a:xfrm>
            <a:off x="1097280" y="3566160"/>
            <a:ext cx="14630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licence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2606040" y="3566160"/>
            <a:ext cx="3520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 BY-SA 4.0: free to use, adapt and share.</a:t>
            </a:r>
            <a:endParaRPr lang="en-US" sz="1200" dirty="0"/>
          </a:p>
        </p:txBody>
      </p:sp>
      <p:sp>
        <p:nvSpPr>
          <p:cNvPr id="40" name="QR card shadow"/>
          <p:cNvSpPr/>
          <p:nvPr/>
        </p:nvSpPr>
        <p:spPr>
          <a:xfrm>
            <a:off x="6464808" y="1325880"/>
            <a:ext cx="2286000" cy="2825496"/>
          </a:xfrm>
          <a:prstGeom prst="roundRect">
            <a:avLst>
              <a:gd name="adj" fmla="val 9000"/>
            </a:avLst>
          </a:prstGeom>
          <a:solidFill>
            <a:schemeClr val="accent4"/>
          </a:solidFill>
          <a:ln w="317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QR card"/>
          <p:cNvSpPr/>
          <p:nvPr/>
        </p:nvSpPr>
        <p:spPr>
          <a:xfrm>
            <a:off x="6400800" y="1261872"/>
            <a:ext cx="2286000" cy="2825496"/>
          </a:xfrm>
          <a:prstGeom prst="roundRect">
            <a:avLst>
              <a:gd name="adj" fmla="val 9000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QR caption"/>
          <p:cNvSpPr txBox="1"/>
          <p:nvPr/>
        </p:nvSpPr>
        <p:spPr>
          <a:xfrm>
            <a:off x="6492240" y="3035808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buNone/>
            </a:pPr>
            <a:r>
              <a:rPr lang="en-GB" sz="13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to open the repo</a:t>
            </a:r>
          </a:p>
          <a:p>
            <a:pPr algn="ctr">
              <a:buNone/>
            </a:pPr>
            <a:r>
              <a:rPr lang="en-GB" sz="1000" b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github.com/VissitingLiam/sipho-algorithm-story</a:t>
            </a:r>
            <a:endParaRPr lang="en-GB" sz="1000" b="0" dirty="0">
              <a:solidFill>
                <a:schemeClr val="tx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34" name="Slide Number Placeholder 0">
            <a:extLst>
              <a:ext uri="{FF2B5EF4-FFF2-40B4-BE49-F238E27FC236}">
                <a16:creationId xmlns:a16="http://schemas.microsoft.com/office/drawing/2014/main" id="{5E615962-F468-A188-430C-69B279F227E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C8936AE8-29EF-0D12-4A83-EAF4C4538D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992" y="1493710"/>
            <a:ext cx="1496378" cy="1496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96731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Design Process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decided on content, format and assessment</a:t>
            </a:r>
            <a:endParaRPr lang="en-US" sz="1600" dirty="0"/>
          </a:p>
        </p:txBody>
      </p:sp>
      <p:sp>
        <p:nvSpPr>
          <p:cNvPr id="4" name="Decision card 1 shadow"/>
          <p:cNvSpPr/>
          <p:nvPr/>
        </p:nvSpPr>
        <p:spPr>
          <a:xfrm>
            <a:off x="521208" y="1344168"/>
            <a:ext cx="4572000" cy="1051560"/>
          </a:xfrm>
          <a:prstGeom prst="roundRect">
            <a:avLst>
              <a:gd name="adj" fmla="val 10435"/>
            </a:avLst>
          </a:prstGeom>
          <a:solidFill>
            <a:schemeClr val="accent4"/>
          </a:solidFill>
          <a:ln w="317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Decision card 1"/>
          <p:cNvSpPr/>
          <p:nvPr/>
        </p:nvSpPr>
        <p:spPr>
          <a:xfrm>
            <a:off x="457200" y="1280160"/>
            <a:ext cx="457200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Decision icon 1"/>
          <p:cNvSpPr/>
          <p:nvPr/>
        </p:nvSpPr>
        <p:spPr>
          <a:xfrm>
            <a:off x="640080" y="1435608"/>
            <a:ext cx="384048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118872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66420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Flowcharts and algorithms alone were too thin, so we paired them with coding: plan → build → revise.</a:t>
            </a:r>
            <a:endParaRPr lang="en-US" sz="1400" dirty="0"/>
          </a:p>
        </p:txBody>
      </p:sp>
      <p:sp>
        <p:nvSpPr>
          <p:cNvPr id="9" name="Decision card 2 shadow"/>
          <p:cNvSpPr/>
          <p:nvPr/>
        </p:nvSpPr>
        <p:spPr>
          <a:xfrm>
            <a:off x="521208" y="2487168"/>
            <a:ext cx="4572000" cy="1051560"/>
          </a:xfrm>
          <a:prstGeom prst="roundRect">
            <a:avLst>
              <a:gd name="adj" fmla="val 10435"/>
            </a:avLst>
          </a:prstGeom>
          <a:solidFill>
            <a:schemeClr val="accent4"/>
          </a:solidFill>
          <a:ln w="317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Decision card 2"/>
          <p:cNvSpPr/>
          <p:nvPr/>
        </p:nvSpPr>
        <p:spPr>
          <a:xfrm>
            <a:off x="457200" y="2423160"/>
            <a:ext cx="457200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Decision icon 2"/>
          <p:cNvSpPr/>
          <p:nvPr/>
        </p:nvSpPr>
        <p:spPr>
          <a:xfrm>
            <a:off x="640080" y="2578608"/>
            <a:ext cx="384048" cy="274320"/>
          </a:xfrm>
          <a:prstGeom prst="rect">
            <a:avLst/>
          </a:prstGeom>
          <a:solidFill>
            <a:schemeClr val="accent3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1188720" y="2514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80720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45-minute CAPS lesson plans, a game, a learner booklet and a teacher guide.</a:t>
            </a:r>
            <a:endParaRPr lang="en-US" sz="1400" dirty="0"/>
          </a:p>
        </p:txBody>
      </p:sp>
      <p:sp>
        <p:nvSpPr>
          <p:cNvPr id="14" name="Decision card 3 shadow"/>
          <p:cNvSpPr/>
          <p:nvPr/>
        </p:nvSpPr>
        <p:spPr>
          <a:xfrm>
            <a:off x="521208" y="3630168"/>
            <a:ext cx="4572000" cy="1051560"/>
          </a:xfrm>
          <a:prstGeom prst="roundRect">
            <a:avLst>
              <a:gd name="adj" fmla="val 10435"/>
            </a:avLst>
          </a:prstGeom>
          <a:solidFill>
            <a:schemeClr val="accent4"/>
          </a:solidFill>
          <a:ln w="317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Decision card 3"/>
          <p:cNvSpPr/>
          <p:nvPr/>
        </p:nvSpPr>
        <p:spPr>
          <a:xfrm>
            <a:off x="457200" y="3566160"/>
            <a:ext cx="457200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Decision icon 3"/>
          <p:cNvSpPr/>
          <p:nvPr/>
        </p:nvSpPr>
        <p:spPr>
          <a:xfrm>
            <a:off x="640080" y="3721608"/>
            <a:ext cx="384048" cy="274320"/>
          </a:xfrm>
          <a:prstGeom prst="diamond">
            <a:avLst/>
          </a:prstGeom>
          <a:solidFill>
            <a:schemeClr val="accent3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1188720" y="3657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95020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tickets in Lessons 1-4; a Lesson 5 summative with rubric and memo.</a:t>
            </a:r>
            <a:endParaRPr lang="en-US" sz="1400" dirty="0"/>
          </a:p>
        </p:txBody>
      </p:sp>
      <p:sp>
        <p:nvSpPr>
          <p:cNvPr id="19" name="Drafts card shadow"/>
          <p:cNvSpPr/>
          <p:nvPr/>
        </p:nvSpPr>
        <p:spPr>
          <a:xfrm>
            <a:off x="5413248" y="1344168"/>
            <a:ext cx="3337560" cy="3337560"/>
          </a:xfrm>
          <a:prstGeom prst="roundRect">
            <a:avLst>
              <a:gd name="adj" fmla="val 3288"/>
            </a:avLst>
          </a:prstGeom>
          <a:solidFill>
            <a:schemeClr val="accent4"/>
          </a:solidFill>
          <a:ln w="317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Drafts card"/>
          <p:cNvSpPr/>
          <p:nvPr/>
        </p:nvSpPr>
        <p:spPr>
          <a:xfrm>
            <a:off x="5349240" y="1280160"/>
            <a:ext cx="3337560" cy="3337560"/>
          </a:xfrm>
          <a:prstGeom prst="roundRect">
            <a:avLst>
              <a:gd name="adj" fmla="val 3288"/>
            </a:avLst>
          </a:prstGeom>
          <a:solidFill>
            <a:schemeClr val="accent3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 txBox="1"/>
          <p:nvPr/>
        </p:nvSpPr>
        <p:spPr>
          <a:xfrm>
            <a:off x="5532120" y="13716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drafts and rejected ideas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532120" y="1920240"/>
            <a:ext cx="301752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 taught algorithms and flowcharts on paper and draw.io only. We replaced it with the Sipho’s Morning game.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interactive website of the notes booklet. We chose a game.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lessons first, revised once the digital part existed.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Live Demonstration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digital component, one learner activity, one teacher guide section</a:t>
            </a:r>
            <a:endParaRPr lang="en-US" sz="1600" dirty="0"/>
          </a:p>
        </p:txBody>
      </p:sp>
      <p:sp>
        <p:nvSpPr>
          <p:cNvPr id="4" name="Demo card 1 shadow"/>
          <p:cNvSpPr/>
          <p:nvPr/>
        </p:nvSpPr>
        <p:spPr>
          <a:xfrm>
            <a:off x="521208" y="1389888"/>
            <a:ext cx="2468880" cy="2331720"/>
          </a:xfrm>
          <a:prstGeom prst="roundRect">
            <a:avLst>
              <a:gd name="adj" fmla="val 4706"/>
            </a:avLst>
          </a:prstGeom>
          <a:solidFill>
            <a:schemeClr val="accent4"/>
          </a:solidFill>
          <a:ln w="317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Demo card 1"/>
          <p:cNvSpPr/>
          <p:nvPr/>
        </p:nvSpPr>
        <p:spPr>
          <a:xfrm>
            <a:off x="457200" y="1325880"/>
            <a:ext cx="2468880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Demo number 1"/>
          <p:cNvSpPr/>
          <p:nvPr/>
        </p:nvSpPr>
        <p:spPr>
          <a:xfrm>
            <a:off x="640080" y="1481328"/>
            <a:ext cx="457200" cy="45720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640080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44475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Camilla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73736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2 min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148840"/>
            <a:ext cx="2103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overall lesson plan, then Lesson 2 and its teacher guide section.</a:t>
            </a:r>
            <a:endParaRPr lang="en-US" sz="1600" dirty="0"/>
          </a:p>
        </p:txBody>
      </p:sp>
      <p:sp>
        <p:nvSpPr>
          <p:cNvPr id="11" name="Demo arrow 1"/>
          <p:cNvSpPr/>
          <p:nvPr/>
        </p:nvSpPr>
        <p:spPr>
          <a:xfrm>
            <a:off x="2962656" y="2624328"/>
            <a:ext cx="246888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Demo card 2 shadow"/>
          <p:cNvSpPr/>
          <p:nvPr/>
        </p:nvSpPr>
        <p:spPr>
          <a:xfrm>
            <a:off x="3310128" y="1389888"/>
            <a:ext cx="2468880" cy="2331720"/>
          </a:xfrm>
          <a:prstGeom prst="roundRect">
            <a:avLst>
              <a:gd name="adj" fmla="val 4706"/>
            </a:avLst>
          </a:prstGeom>
          <a:solidFill>
            <a:schemeClr val="accent4"/>
          </a:solidFill>
          <a:ln w="317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Demo card 2"/>
          <p:cNvSpPr/>
          <p:nvPr/>
        </p:nvSpPr>
        <p:spPr>
          <a:xfrm>
            <a:off x="3246120" y="1325880"/>
            <a:ext cx="2468880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Demo number 2"/>
          <p:cNvSpPr/>
          <p:nvPr/>
        </p:nvSpPr>
        <p:spPr>
          <a:xfrm>
            <a:off x="3429000" y="1481328"/>
            <a:ext cx="457200" cy="45720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3429000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023360" y="144475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Thabo</a:t>
            </a:r>
          </a:p>
        </p:txBody>
      </p:sp>
      <p:sp>
        <p:nvSpPr>
          <p:cNvPr id="17" name="Text 15"/>
          <p:cNvSpPr txBox="1"/>
          <p:nvPr/>
        </p:nvSpPr>
        <p:spPr>
          <a:xfrm>
            <a:off x="4023360" y="173736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1 min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429000" y="2148840"/>
            <a:ext cx="2103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Briefly explains the algorithm story activity (the learner activity).</a:t>
            </a:r>
            <a:endParaRPr lang="en-US" sz="1600" dirty="0"/>
          </a:p>
        </p:txBody>
      </p:sp>
      <p:sp>
        <p:nvSpPr>
          <p:cNvPr id="19" name="Demo arrow 2"/>
          <p:cNvSpPr/>
          <p:nvPr/>
        </p:nvSpPr>
        <p:spPr>
          <a:xfrm>
            <a:off x="5751576" y="2624328"/>
            <a:ext cx="246888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0" name="Demo card 3 shadow"/>
          <p:cNvSpPr/>
          <p:nvPr/>
        </p:nvSpPr>
        <p:spPr>
          <a:xfrm>
            <a:off x="6099048" y="1389888"/>
            <a:ext cx="2468880" cy="2331720"/>
          </a:xfrm>
          <a:prstGeom prst="roundRect">
            <a:avLst>
              <a:gd name="adj" fmla="val 4706"/>
            </a:avLst>
          </a:prstGeom>
          <a:solidFill>
            <a:schemeClr val="accent4"/>
          </a:solidFill>
          <a:ln w="317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Demo card 3"/>
          <p:cNvSpPr/>
          <p:nvPr/>
        </p:nvSpPr>
        <p:spPr>
          <a:xfrm>
            <a:off x="6035040" y="1325880"/>
            <a:ext cx="2468880" cy="2331720"/>
          </a:xfrm>
          <a:prstGeom prst="roundRect">
            <a:avLst>
              <a:gd name="adj" fmla="val 4706"/>
            </a:avLst>
          </a:prstGeom>
          <a:solidFill>
            <a:schemeClr val="accent3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Demo number 3"/>
          <p:cNvSpPr/>
          <p:nvPr/>
        </p:nvSpPr>
        <p:spPr>
          <a:xfrm>
            <a:off x="6217920" y="1481328"/>
            <a:ext cx="457200" cy="45720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 txBox="1"/>
          <p:nvPr/>
        </p:nvSpPr>
        <p:spPr>
          <a:xfrm>
            <a:off x="6217920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812280" y="144475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Liam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6812280" y="173736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217920" y="2148840"/>
            <a:ext cx="2103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Plays Sipho’s Morning live: choices, flowchart builds, finished diagram.</a:t>
            </a:r>
            <a:endParaRPr lang="en-US" sz="1600" dirty="0"/>
          </a:p>
        </p:txBody>
      </p:sp>
      <p:sp>
        <p:nvSpPr>
          <p:cNvPr id="27" name="Backup banner shadow"/>
          <p:cNvSpPr/>
          <p:nvPr/>
        </p:nvSpPr>
        <p:spPr>
          <a:xfrm>
            <a:off x="521208" y="3995928"/>
            <a:ext cx="8001000" cy="548640"/>
          </a:xfrm>
          <a:prstGeom prst="roundRect">
            <a:avLst>
              <a:gd name="adj" fmla="val 20000"/>
            </a:avLst>
          </a:prstGeom>
          <a:solidFill>
            <a:schemeClr val="accent4"/>
          </a:solidFill>
          <a:ln w="317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Backup banner"/>
          <p:cNvSpPr/>
          <p:nvPr/>
        </p:nvSpPr>
        <p:spPr>
          <a:xfrm>
            <a:off x="457200" y="3931920"/>
            <a:ext cx="8001000" cy="548640"/>
          </a:xfrm>
          <a:prstGeom prst="roundRect">
            <a:avLst>
              <a:gd name="adj" fmla="val 20000"/>
            </a:avLst>
          </a:prstGeom>
          <a:solidFill>
            <a:schemeClr val="accent4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 txBox="1"/>
          <p:nvPr/>
        </p:nvSpPr>
        <p:spPr>
          <a:xfrm>
            <a:off x="685800" y="393192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if tech fails: 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HTML file of Sipho’s morning.</a:t>
            </a:r>
            <a:endParaRPr lang="en-US" sz="14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Impact: Closing the Gaps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gap from slide 2 and our answer</a:t>
            </a:r>
            <a:endParaRPr lang="en-US" sz="1600" dirty="0"/>
          </a:p>
        </p:txBody>
      </p:sp>
      <p:graphicFrame>
        <p:nvGraphicFramePr>
          <p:cNvPr id="6" name="Gap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61872"/>
          <a:ext cx="8229600" cy="3364992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answer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Infrastructure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and open. The story game works offline once saved; Scratch has an offline editor.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Curriculum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 CAPS lesson plans that show how to teach the topic.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step-by-step guide can act as built-in training when CPD is missing.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principal can adopt it without an ICT coordinator: it is ready to use.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Openly licensed and instantly downloadable, with no procurement delay.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Motivation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game-based entry point that aims to make technology feel achievable.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Impact: Under-Resourced Schools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Cost, infrastructure and language</a:t>
            </a:r>
            <a:endParaRPr lang="en-US" sz="1600" dirty="0"/>
          </a:p>
        </p:txBody>
      </p:sp>
      <p:sp>
        <p:nvSpPr>
          <p:cNvPr id="4" name="Impact card 1 shadow"/>
          <p:cNvSpPr/>
          <p:nvPr/>
        </p:nvSpPr>
        <p:spPr>
          <a:xfrm>
            <a:off x="521208" y="1344168"/>
            <a:ext cx="2606040" cy="2606040"/>
          </a:xfrm>
          <a:prstGeom prst="roundRect">
            <a:avLst>
              <a:gd name="adj" fmla="val 4211"/>
            </a:avLst>
          </a:prstGeom>
          <a:solidFill>
            <a:schemeClr val="accent4"/>
          </a:solidFill>
          <a:ln w="317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Impact card 1"/>
          <p:cNvSpPr/>
          <p:nvPr/>
        </p:nvSpPr>
        <p:spPr>
          <a:xfrm>
            <a:off x="457200" y="1280160"/>
            <a:ext cx="2606040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Impact icon 1"/>
          <p:cNvSpPr/>
          <p:nvPr/>
        </p:nvSpPr>
        <p:spPr>
          <a:xfrm>
            <a:off x="640080" y="1435608"/>
            <a:ext cx="384048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1143000" y="138988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828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R150–R400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331720"/>
            <a:ext cx="2286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class of 36 (teacher guide estimate). All software is free; printing and supplies are the only cost.</a:t>
            </a:r>
            <a:endParaRPr lang="en-US" sz="1400" dirty="0"/>
          </a:p>
        </p:txBody>
      </p:sp>
      <p:sp>
        <p:nvSpPr>
          <p:cNvPr id="10" name="Impact card 2 shadow"/>
          <p:cNvSpPr/>
          <p:nvPr/>
        </p:nvSpPr>
        <p:spPr>
          <a:xfrm>
            <a:off x="3310128" y="1344168"/>
            <a:ext cx="2606040" cy="2606040"/>
          </a:xfrm>
          <a:prstGeom prst="roundRect">
            <a:avLst>
              <a:gd name="adj" fmla="val 4211"/>
            </a:avLst>
          </a:prstGeom>
          <a:solidFill>
            <a:schemeClr val="accent4"/>
          </a:solidFill>
          <a:ln w="317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Impact card 2"/>
          <p:cNvSpPr/>
          <p:nvPr/>
        </p:nvSpPr>
        <p:spPr>
          <a:xfrm>
            <a:off x="3246120" y="1280160"/>
            <a:ext cx="2606040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Impact icon 2"/>
          <p:cNvSpPr/>
          <p:nvPr/>
        </p:nvSpPr>
        <p:spPr>
          <a:xfrm>
            <a:off x="3429000" y="1435608"/>
            <a:ext cx="384048" cy="274320"/>
          </a:xfrm>
          <a:prstGeom prst="rect">
            <a:avLst/>
          </a:prstGeom>
          <a:solidFill>
            <a:schemeClr val="accent3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3931920" y="138988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1828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 pair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2331720"/>
            <a:ext cx="2286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device per pair; Lesson 5 is individual. The story game works offline once saved; the MakeCode simulator needs internet.</a:t>
            </a:r>
            <a:endParaRPr lang="en-US" sz="1400" dirty="0"/>
          </a:p>
        </p:txBody>
      </p:sp>
      <p:sp>
        <p:nvSpPr>
          <p:cNvPr id="16" name="Impact card 3 shadow"/>
          <p:cNvSpPr/>
          <p:nvPr/>
        </p:nvSpPr>
        <p:spPr>
          <a:xfrm>
            <a:off x="6099048" y="1344168"/>
            <a:ext cx="2606040" cy="2606040"/>
          </a:xfrm>
          <a:prstGeom prst="roundRect">
            <a:avLst>
              <a:gd name="adj" fmla="val 4211"/>
            </a:avLst>
          </a:prstGeom>
          <a:solidFill>
            <a:schemeClr val="accent4"/>
          </a:solidFill>
          <a:ln w="317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Impact card 3"/>
          <p:cNvSpPr/>
          <p:nvPr/>
        </p:nvSpPr>
        <p:spPr>
          <a:xfrm>
            <a:off x="6035040" y="1280160"/>
            <a:ext cx="2606040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Impact icon 3"/>
          <p:cNvSpPr/>
          <p:nvPr/>
        </p:nvSpPr>
        <p:spPr>
          <a:xfrm>
            <a:off x="6217920" y="1435608"/>
            <a:ext cx="384048" cy="274320"/>
          </a:xfrm>
          <a:prstGeom prst="diamond">
            <a:avLst/>
          </a:prstGeom>
          <a:solidFill>
            <a:schemeClr val="accent3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6720840" y="138988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828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languages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331720"/>
            <a:ext cx="2286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terms in English, Afrikaans and Setswana. CC BY-SA 4.0 lets teachers translate and share back.</a:t>
            </a:r>
            <a:endParaRPr lang="en-US" sz="1400" dirty="0"/>
          </a:p>
        </p:txBody>
      </p:sp>
      <p:sp>
        <p:nvSpPr>
          <p:cNvPr id="22" name="Next step banner shadow"/>
          <p:cNvSpPr/>
          <p:nvPr/>
        </p:nvSpPr>
        <p:spPr>
          <a:xfrm>
            <a:off x="521208" y="4087368"/>
            <a:ext cx="8229600" cy="640080"/>
          </a:xfrm>
          <a:prstGeom prst="roundRect">
            <a:avLst>
              <a:gd name="adj" fmla="val 17143"/>
            </a:avLst>
          </a:prstGeom>
          <a:solidFill>
            <a:schemeClr val="accent4"/>
          </a:solidFill>
          <a:ln w="317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Next step banner"/>
          <p:cNvSpPr/>
          <p:nvPr/>
        </p:nvSpPr>
        <p:spPr>
          <a:xfrm>
            <a:off x="457200" y="4023360"/>
            <a:ext cx="8229600" cy="640080"/>
          </a:xfrm>
          <a:prstGeom prst="roundRect">
            <a:avLst>
              <a:gd name="adj" fmla="val 17143"/>
            </a:avLst>
          </a:prstGeom>
          <a:solidFill>
            <a:schemeClr val="accent3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 txBox="1"/>
          <p:nvPr/>
        </p:nvSpPr>
        <p:spPr>
          <a:xfrm>
            <a:off x="685800" y="40233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step: 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in one or two classes and compare Lesson 5 rubric results and teacher feedback. Not yet piloted.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References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cited on the Gap slide</a:t>
            </a:r>
            <a:endParaRPr lang="en-US" sz="1600" dirty="0"/>
          </a:p>
        </p:txBody>
      </p:sp>
      <p:sp>
        <p:nvSpPr>
          <p:cNvPr id="4" name="References text"/>
          <p:cNvSpPr txBox="1"/>
          <p:nvPr/>
        </p:nvSpPr>
        <p:spPr>
          <a:xfrm>
            <a:off x="457200" y="1325880"/>
            <a:ext cx="8229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800"/>
              </a:spcAft>
              <a:buNone/>
            </a:pPr>
            <a:r>
              <a:rPr lang="en-GB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Bati, T.B. and Workneh, A.W., 2021. Evaluating integrated use of information technologies in secondary schools of Ethiopia using design‐reality gap analysis: A school‐level study. </a:t>
            </a:r>
            <a:r>
              <a:rPr lang="en-GB" sz="16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electronic journal of information systems in developing countries</a:t>
            </a:r>
            <a:r>
              <a:rPr lang="en-GB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87(1), p.e12148.</a:t>
            </a:r>
          </a:p>
          <a:p>
            <a:pPr marL="342900" indent="-342900">
              <a:spcAft>
                <a:spcPts val="1800"/>
              </a:spcAft>
              <a:buNone/>
            </a:pPr>
            <a:r>
              <a:rPr lang="en-GB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Chisango, G. and Marongwe, N., 2021. The digital divide at three disadvantaged secondary schools in Gauteng, South Africa. </a:t>
            </a:r>
            <a:r>
              <a:rPr lang="en-GB" sz="16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of Education (University of KwaZulu-Natal)</a:t>
            </a:r>
            <a:r>
              <a:rPr lang="en-GB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(82), pp.149-165.</a:t>
            </a:r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5737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22960"/>
            <a:ext cx="5852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tx1"/>
                </a:solidFill>
              </a:rPr>
              <a:t>Questions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0312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to use, adapt and share (CC BY-SA 4.0)</a:t>
            </a:r>
            <a:endParaRPr lang="en-US" sz="1800" dirty="0"/>
          </a:p>
        </p:txBody>
      </p:sp>
      <p:sp>
        <p:nvSpPr>
          <p:cNvPr id="4" name="Text 2">
            <a:hlinkClick r:id="rId3"/>
          </p:cNvPr>
          <p:cNvSpPr txBox="1"/>
          <p:nvPr/>
        </p:nvSpPr>
        <p:spPr>
          <a:xfrm>
            <a:off x="548640" y="256032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u="sng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Sipho’s Morning: vissitingliam.github.io/sipho-algorithm-story</a:t>
            </a:r>
            <a:endParaRPr lang="en-US" sz="1400" dirty="0"/>
          </a:p>
        </p:txBody>
      </p:sp>
      <p:sp>
        <p:nvSpPr>
          <p:cNvPr id="5" name="Sun"/>
          <p:cNvSpPr/>
          <p:nvPr/>
        </p:nvSpPr>
        <p:spPr>
          <a:xfrm>
            <a:off x="6675120" y="2834640"/>
            <a:ext cx="1554480" cy="1554480"/>
          </a:xfrm>
          <a:prstGeom prst="ellipse">
            <a:avLst/>
          </a:prstGeom>
          <a:solidFill>
            <a:schemeClr val="accent1"/>
          </a:solidFill>
          <a:ln w="3175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Hill"/>
          <p:cNvSpPr/>
          <p:nvPr/>
        </p:nvSpPr>
        <p:spPr>
          <a:xfrm>
            <a:off x="-2286000" y="3977640"/>
            <a:ext cx="13716000" cy="2926080"/>
          </a:xfrm>
          <a:prstGeom prst="ellipse">
            <a:avLst/>
          </a:prstGeom>
          <a:solidFill>
            <a:schemeClr val="tx1"/>
          </a:solidFill>
          <a:ln w="3175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pho Morning">
  <a:themeElements>
    <a:clrScheme name="Sipho Morning">
      <a:dk1>
        <a:srgbClr val="1C2433"/>
      </a:dk1>
      <a:lt1>
        <a:srgbClr val="FBF6EC"/>
      </a:lt1>
      <a:dk2>
        <a:srgbClr val="4B5262"/>
      </a:dk2>
      <a:lt2>
        <a:srgbClr val="FFFDF8"/>
      </a:lt2>
      <a:accent1>
        <a:srgbClr val="E8590C"/>
      </a:accent1>
      <a:accent2>
        <a:srgbClr val="A63D05"/>
      </a:accent2>
      <a:accent3>
        <a:srgbClr val="FDE3B8"/>
      </a:accent3>
      <a:accent4>
        <a:srgbClr val="E9DCC3"/>
      </a:accent4>
      <a:accent5>
        <a:srgbClr val="2E7D32"/>
      </a:accent5>
      <a:accent6>
        <a:srgbClr val="7A5200"/>
      </a:accent6>
      <a:hlink>
        <a:srgbClr val="0B3FA8"/>
      </a:hlink>
      <a:folHlink>
        <a:srgbClr val="4B5262"/>
      </a:folHlink>
    </a:clrScheme>
    <a:fontScheme name="Sipho Morning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5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908ACEBF-340C-47F3-9549-061A126E02F4}">
  <we:reference id="wa200002492" version="1.0.0.3" store="en-US" storeType="OMEX"/>
  <we:alternateReferences>
    <we:reference id="WA200002492" version="1.0.0.3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984</TotalTime>
  <Words>982</Words>
  <Application>Microsoft Office PowerPoint</Application>
  <PresentationFormat>On-screen Show (16:9)</PresentationFormat>
  <Paragraphs>120</Paragraphs>
  <Slides>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Sipho Morning</vt:lpstr>
      <vt:lpstr>Introduction to Algorithms &amp; Flowcharts</vt:lpstr>
      <vt:lpstr>The Gap</vt:lpstr>
      <vt:lpstr>Content Summary</vt:lpstr>
      <vt:lpstr>Design Process</vt:lpstr>
      <vt:lpstr>Live Demonstration</vt:lpstr>
      <vt:lpstr>Impact: Closing the Gaps</vt:lpstr>
      <vt:lpstr>Impact: Under-Resourced Schools</vt:lpstr>
      <vt:lpstr>References</vt:lpstr>
      <vt:lpstr>Questions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Algorithms &amp; Flowcharts (Grade 8)</dc:title>
  <dc:subject>PptxGenJS Presentation</dc:subject>
  <dc:creator>Group CLT</dc:creator>
  <cp:lastModifiedBy>Liam Craven</cp:lastModifiedBy>
  <cp:revision>3</cp:revision>
  <dcterms:created xsi:type="dcterms:W3CDTF">2026-10-20T10:43:06Z</dcterms:created>
  <dcterms:modified xsi:type="dcterms:W3CDTF">2026-10-22T07:10:11Z</dcterms:modified>
</cp:coreProperties>
</file>